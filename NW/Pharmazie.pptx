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4" r:id="rId7"/>
    <p:sldId id="262" r:id="rId8"/>
    <p:sldId id="265" r:id="rId9"/>
    <p:sldId id="263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94660"/>
  </p:normalViewPr>
  <p:slideViewPr>
    <p:cSldViewPr snapToGrid="0">
      <p:cViewPr>
        <p:scale>
          <a:sx n="66" d="100"/>
          <a:sy n="66" d="100"/>
        </p:scale>
        <p:origin x="1100" y="88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95C1-65D1-4AF6-A134-F818ED61C558}" type="datetimeFigureOut">
              <a:rPr lang="de-AT" smtClean="0"/>
              <a:t>10.05.2026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5CD5F-E9E6-44AE-845B-B7033B0A8A64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57641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5CD5F-E9E6-44AE-845B-B7033B0A8A64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8545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D22EF475-B235-4FE2-891A-7194EE893385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73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E90B-CA25-4E61-AC38-F3FDDD5BD380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45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245281C0-4A36-4587-A3AE-D649D9A7F97D}" type="datetime1">
              <a:rPr lang="en-US" smtClean="0"/>
              <a:t>5/10/2026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8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5A887-45AC-4511-AD48-035D66EC6E53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06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31BF-C1AB-4E5E-9A48-E45D11005FF1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741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216A-68CD-4F9E-9B02-B11952BC0224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28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FD8C-43D1-47FF-97CE-0A407FC71FA6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81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415DB8A5-1E99-4B99-BD1E-D333B7C6858F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0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CD2D4F20-55A3-41EE-B883-14DFF3978DF0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69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5D1B-EBB2-4A0E-9505-CDFCB297CB1C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05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385BE18C-247F-4957-8D57-9278B5BA383D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46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034C611-214B-48E5-B7D1-68AAAC1C08B3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21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F03757-7282-62C1-9FA8-B0F3C2C46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0045" y="1346200"/>
            <a:ext cx="5624118" cy="3284538"/>
          </a:xfrm>
        </p:spPr>
        <p:txBody>
          <a:bodyPr anchor="b">
            <a:normAutofit/>
          </a:bodyPr>
          <a:lstStyle/>
          <a:p>
            <a:r>
              <a:rPr lang="de-AT"/>
              <a:t>Pharmazie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1ABA811-E78E-997C-E961-3C2BC9B88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369" y="4630738"/>
            <a:ext cx="5617794" cy="1150937"/>
          </a:xfrm>
        </p:spPr>
        <p:txBody>
          <a:bodyPr anchor="t">
            <a:normAutofit/>
          </a:bodyPr>
          <a:lstStyle/>
          <a:p>
            <a:r>
              <a:rPr lang="de-AT"/>
              <a:t>Pharmazeutikum vs Droge vs Doping</a:t>
            </a:r>
            <a:endParaRPr lang="de-AT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4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21AF4D-CBD0-3309-76C1-E5EBA77977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00" r="12111"/>
          <a:stretch>
            <a:fillRect/>
          </a:stretch>
        </p:blipFill>
        <p:spPr>
          <a:xfrm>
            <a:off x="153" y="10"/>
            <a:ext cx="5033023" cy="6857990"/>
          </a:xfrm>
          <a:custGeom>
            <a:avLst/>
            <a:gdLst/>
            <a:ahLst/>
            <a:cxnLst/>
            <a:rect l="l" t="t" r="r" b="b"/>
            <a:pathLst>
              <a:path w="4710787" h="6858000">
                <a:moveTo>
                  <a:pt x="0" y="0"/>
                </a:moveTo>
                <a:lnTo>
                  <a:pt x="1214365" y="0"/>
                </a:lnTo>
                <a:lnTo>
                  <a:pt x="1994531" y="0"/>
                </a:lnTo>
                <a:lnTo>
                  <a:pt x="3087764" y="0"/>
                </a:lnTo>
                <a:lnTo>
                  <a:pt x="3109888" y="14997"/>
                </a:lnTo>
                <a:cubicBezTo>
                  <a:pt x="4137051" y="754641"/>
                  <a:pt x="4710787" y="2093192"/>
                  <a:pt x="4710787" y="3621656"/>
                </a:cubicBezTo>
                <a:cubicBezTo>
                  <a:pt x="4710787" y="4969131"/>
                  <a:pt x="3782062" y="5602839"/>
                  <a:pt x="2836437" y="6374814"/>
                </a:cubicBezTo>
                <a:cubicBezTo>
                  <a:pt x="2664234" y="6515397"/>
                  <a:pt x="2493607" y="6653108"/>
                  <a:pt x="2319789" y="6780599"/>
                </a:cubicBezTo>
                <a:lnTo>
                  <a:pt x="2208033" y="6858000"/>
                </a:lnTo>
                <a:lnTo>
                  <a:pt x="1994531" y="6858000"/>
                </a:lnTo>
                <a:lnTo>
                  <a:pt x="12143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Freeform: Shape 16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ADE449-26FF-7CF7-5C76-FD960A6B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7906DA4-5F74-434E-B308-CCFCD6E5EE74}" type="slidenum">
              <a:rPr lang="de-AT" smtClean="0"/>
              <a:pPr>
                <a:spcAft>
                  <a:spcPts val="600"/>
                </a:spcAft>
              </a:pPr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486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man examining laboratory samples - pharmazie stock-fotos und bilder">
            <a:extLst>
              <a:ext uri="{FF2B5EF4-FFF2-40B4-BE49-F238E27FC236}">
                <a16:creationId xmlns:a16="http://schemas.microsoft.com/office/drawing/2014/main" id="{303ADEB7-D2C4-82F6-F66E-18630104A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8671"/>
            <a:ext cx="12276862" cy="818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D9F07139-6B2F-2A12-709C-2B132670ADFB}"/>
              </a:ext>
            </a:extLst>
          </p:cNvPr>
          <p:cNvSpPr/>
          <p:nvPr/>
        </p:nvSpPr>
        <p:spPr>
          <a:xfrm>
            <a:off x="-310496" y="-326254"/>
            <a:ext cx="12897853" cy="8739739"/>
          </a:xfrm>
          <a:prstGeom prst="rect">
            <a:avLst/>
          </a:prstGeom>
          <a:solidFill>
            <a:schemeClr val="tx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D948F4-50D2-6CF4-9C28-50705DF35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>
                <a:solidFill>
                  <a:schemeClr val="bg1">
                    <a:lumMod val="95000"/>
                  </a:schemeClr>
                </a:solidFill>
              </a:rPr>
              <a:t>Inhaltsverzeichnis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BE3A9BA-CC5A-0B02-D811-06B42CF62E81}"/>
              </a:ext>
            </a:extLst>
          </p:cNvPr>
          <p:cNvSpPr txBox="1"/>
          <p:nvPr/>
        </p:nvSpPr>
        <p:spPr>
          <a:xfrm>
            <a:off x="2288046" y="2859801"/>
            <a:ext cx="215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Definitionen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D67A6B9-63DE-7809-4D02-112CA93294B8}"/>
              </a:ext>
            </a:extLst>
          </p:cNvPr>
          <p:cNvSpPr txBox="1"/>
          <p:nvPr/>
        </p:nvSpPr>
        <p:spPr>
          <a:xfrm>
            <a:off x="2288045" y="4301445"/>
            <a:ext cx="3313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Chemische Grundlagen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348D2A6-25C0-0C7A-14DD-8C0350ABAC62}"/>
              </a:ext>
            </a:extLst>
          </p:cNvPr>
          <p:cNvSpPr txBox="1"/>
          <p:nvPr/>
        </p:nvSpPr>
        <p:spPr>
          <a:xfrm>
            <a:off x="7645060" y="2853664"/>
            <a:ext cx="136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Drogen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ACC80F7-A158-39DF-6F16-4176FFB42E7D}"/>
              </a:ext>
            </a:extLst>
          </p:cNvPr>
          <p:cNvSpPr txBox="1"/>
          <p:nvPr/>
        </p:nvSpPr>
        <p:spPr>
          <a:xfrm>
            <a:off x="7645059" y="4298376"/>
            <a:ext cx="234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Pharmazeutika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B4E8180-3B24-57D9-79B6-3D119B7001AC}"/>
              </a:ext>
            </a:extLst>
          </p:cNvPr>
          <p:cNvSpPr txBox="1"/>
          <p:nvPr/>
        </p:nvSpPr>
        <p:spPr>
          <a:xfrm>
            <a:off x="7645060" y="5743089"/>
            <a:ext cx="136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Doping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0B92D62-A496-A7D7-D2AD-15A15A09E830}"/>
              </a:ext>
            </a:extLst>
          </p:cNvPr>
          <p:cNvSpPr txBox="1"/>
          <p:nvPr/>
        </p:nvSpPr>
        <p:spPr>
          <a:xfrm>
            <a:off x="2288046" y="5743089"/>
            <a:ext cx="215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Vergleich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AA1FA31-BC78-F21C-9D60-DAAC58B04570}"/>
              </a:ext>
            </a:extLst>
          </p:cNvPr>
          <p:cNvSpPr/>
          <p:nvPr/>
        </p:nvSpPr>
        <p:spPr>
          <a:xfrm>
            <a:off x="1803132" y="2065072"/>
            <a:ext cx="8585735" cy="71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4C850941-C78B-7E43-C884-B499F528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892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harmazie studieren - Alle Infos - Studis Online">
            <a:extLst>
              <a:ext uri="{FF2B5EF4-FFF2-40B4-BE49-F238E27FC236}">
                <a16:creationId xmlns:a16="http://schemas.microsoft.com/office/drawing/2014/main" id="{76E66D4F-D43D-8072-21CC-5B9CB2346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052" y="0"/>
            <a:ext cx="14217976" cy="710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oping in sports and steroid abuse concept Doping in sports and steroid abuse concept with a gold medal, prescription pills and a syringe on a dark background doping stock pictures, royalty-free photos &amp; images">
            <a:extLst>
              <a:ext uri="{FF2B5EF4-FFF2-40B4-BE49-F238E27FC236}">
                <a16:creationId xmlns:a16="http://schemas.microsoft.com/office/drawing/2014/main" id="{DB258EC1-3730-66D2-354B-E8AEA11AD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076927" y="1154206"/>
            <a:ext cx="6858000" cy="454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uf einem alten Holztisch liegen viele Betäubungsmittel und Geräte zur Herstellung von Drogen foto">
            <a:extLst>
              <a:ext uri="{FF2B5EF4-FFF2-40B4-BE49-F238E27FC236}">
                <a16:creationId xmlns:a16="http://schemas.microsoft.com/office/drawing/2014/main" id="{DA6252A3-B544-4650-B628-C2085A86C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70180" y="-32016"/>
            <a:ext cx="10394080" cy="6890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C4C3BF3C-C7CA-F6E8-1208-157BFF798C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948CC1A-8F71-4876-0176-5FF172525272}"/>
              </a:ext>
            </a:extLst>
          </p:cNvPr>
          <p:cNvSpPr txBox="1"/>
          <p:nvPr/>
        </p:nvSpPr>
        <p:spPr>
          <a:xfrm>
            <a:off x="4825465" y="808523"/>
            <a:ext cx="2541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spc="15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Definition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9038C1-8C35-ECFF-7223-5A7BA0E2F92F}"/>
              </a:ext>
            </a:extLst>
          </p:cNvPr>
          <p:cNvSpPr txBox="1"/>
          <p:nvPr/>
        </p:nvSpPr>
        <p:spPr>
          <a:xfrm>
            <a:off x="4599270" y="1924703"/>
            <a:ext cx="2993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>
                <a:solidFill>
                  <a:schemeClr val="bg1">
                    <a:lumMod val="95000"/>
                  </a:schemeClr>
                </a:solidFill>
              </a:rPr>
              <a:t>Pharmazeutikum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B3DF385-DC21-D96D-1C3B-3D32E68AE5DB}"/>
              </a:ext>
            </a:extLst>
          </p:cNvPr>
          <p:cNvSpPr txBox="1"/>
          <p:nvPr/>
        </p:nvSpPr>
        <p:spPr>
          <a:xfrm>
            <a:off x="1803130" y="1924701"/>
            <a:ext cx="1178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>
                <a:solidFill>
                  <a:schemeClr val="bg1">
                    <a:lumMod val="95000"/>
                  </a:schemeClr>
                </a:solidFill>
              </a:rPr>
              <a:t>Droge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FCA4114-30F9-85C3-8453-CD8D78993D62}"/>
              </a:ext>
            </a:extLst>
          </p:cNvPr>
          <p:cNvSpPr txBox="1"/>
          <p:nvPr/>
        </p:nvSpPr>
        <p:spPr>
          <a:xfrm>
            <a:off x="9049350" y="1924702"/>
            <a:ext cx="1339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>
                <a:solidFill>
                  <a:schemeClr val="bg1">
                    <a:lumMod val="95000"/>
                  </a:schemeClr>
                </a:solidFill>
              </a:rPr>
              <a:t>Doping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369CF3A-BDAD-4FB5-5004-CD1525539DC3}"/>
              </a:ext>
            </a:extLst>
          </p:cNvPr>
          <p:cNvSpPr/>
          <p:nvPr/>
        </p:nvSpPr>
        <p:spPr>
          <a:xfrm>
            <a:off x="1803130" y="1587264"/>
            <a:ext cx="8585735" cy="71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046E91A-597B-59DA-EF97-F3413C6FE99A}"/>
              </a:ext>
            </a:extLst>
          </p:cNvPr>
          <p:cNvSpPr txBox="1"/>
          <p:nvPr/>
        </p:nvSpPr>
        <p:spPr>
          <a:xfrm>
            <a:off x="1803130" y="2863871"/>
            <a:ext cx="2406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Psychoaktive</a:t>
            </a:r>
            <a:r>
              <a:rPr lang="de-AT" dirty="0"/>
              <a:t> </a:t>
            </a: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Substanz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113345A-F2BA-6DA5-ECC3-00710EB90EE2}"/>
              </a:ext>
            </a:extLst>
          </p:cNvPr>
          <p:cNvSpPr txBox="1"/>
          <p:nvPr/>
        </p:nvSpPr>
        <p:spPr>
          <a:xfrm>
            <a:off x="1803130" y="4240994"/>
            <a:ext cx="1778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Meistens illegal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D84D8CE-7984-7E78-12F7-D5799544167B}"/>
              </a:ext>
            </a:extLst>
          </p:cNvPr>
          <p:cNvSpPr txBox="1"/>
          <p:nvPr/>
        </p:nvSpPr>
        <p:spPr>
          <a:xfrm>
            <a:off x="4947385" y="2863871"/>
            <a:ext cx="2261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Zugelassenes</a:t>
            </a:r>
            <a:r>
              <a:rPr lang="de-AT" dirty="0"/>
              <a:t> </a:t>
            </a: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Medikament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13D5BFA-A58E-4281-7079-374855779E0D}"/>
              </a:ext>
            </a:extLst>
          </p:cNvPr>
          <p:cNvSpPr txBox="1"/>
          <p:nvPr/>
        </p:nvSpPr>
        <p:spPr>
          <a:xfrm>
            <a:off x="4945710" y="4240994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Mit</a:t>
            </a:r>
            <a:r>
              <a:rPr lang="de-AT" dirty="0"/>
              <a:t> </a:t>
            </a: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Heilungszweck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BB154A8-236D-FD01-5452-F78DAA4E02DB}"/>
              </a:ext>
            </a:extLst>
          </p:cNvPr>
          <p:cNvSpPr txBox="1"/>
          <p:nvPr/>
        </p:nvSpPr>
        <p:spPr>
          <a:xfrm>
            <a:off x="8576943" y="2863871"/>
            <a:ext cx="186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Unerlaubte</a:t>
            </a:r>
            <a:r>
              <a:rPr lang="de-AT" dirty="0"/>
              <a:t> </a:t>
            </a: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Substanz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EDA9C2C-D4DC-A398-E64C-5A975368FD59}"/>
              </a:ext>
            </a:extLst>
          </p:cNvPr>
          <p:cNvSpPr txBox="1"/>
          <p:nvPr/>
        </p:nvSpPr>
        <p:spPr>
          <a:xfrm>
            <a:off x="8576943" y="4240994"/>
            <a:ext cx="2950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solidFill>
                  <a:schemeClr val="bg1">
                    <a:lumMod val="95000"/>
                  </a:schemeClr>
                </a:solidFill>
              </a:rPr>
              <a:t>Leistungssteigerung (meist Sport)</a:t>
            </a:r>
            <a:endParaRPr lang="de-AT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C94E6C9-DCE9-23F3-0F8F-311167FB3A81}"/>
              </a:ext>
            </a:extLst>
          </p:cNvPr>
          <p:cNvSpPr/>
          <p:nvPr/>
        </p:nvSpPr>
        <p:spPr>
          <a:xfrm rot="5400000">
            <a:off x="3943007" y="3995812"/>
            <a:ext cx="8585735" cy="71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C5B733F-012E-AB36-B013-A5A16BC2D86F}"/>
              </a:ext>
            </a:extLst>
          </p:cNvPr>
          <p:cNvSpPr/>
          <p:nvPr/>
        </p:nvSpPr>
        <p:spPr>
          <a:xfrm rot="5400000">
            <a:off x="-354080" y="3995812"/>
            <a:ext cx="8585735" cy="71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2F5CA60A-DE09-0A50-F8E8-663F3168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67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EA43E0-90CC-3007-3E1F-9DB9510B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Chemische Grundlagen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C99ADCC-65FF-F22B-268F-AA632B2298A9}"/>
              </a:ext>
            </a:extLst>
          </p:cNvPr>
          <p:cNvSpPr/>
          <p:nvPr/>
        </p:nvSpPr>
        <p:spPr>
          <a:xfrm>
            <a:off x="3236808" y="4547620"/>
            <a:ext cx="47161" cy="3629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6FFF549-412E-E02B-95D7-90AD2BB8FC4D}"/>
              </a:ext>
            </a:extLst>
          </p:cNvPr>
          <p:cNvSpPr/>
          <p:nvPr/>
        </p:nvSpPr>
        <p:spPr>
          <a:xfrm>
            <a:off x="6123168" y="3988490"/>
            <a:ext cx="47161" cy="4012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3AC7DC8-F332-4ABB-D6AE-C1F4C2D68F93}"/>
              </a:ext>
            </a:extLst>
          </p:cNvPr>
          <p:cNvSpPr/>
          <p:nvPr/>
        </p:nvSpPr>
        <p:spPr>
          <a:xfrm>
            <a:off x="8994515" y="4547620"/>
            <a:ext cx="47161" cy="3629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F0F242F-828B-1B1A-B1D6-EF0EAD1D6303}"/>
              </a:ext>
            </a:extLst>
          </p:cNvPr>
          <p:cNvSpPr txBox="1"/>
          <p:nvPr/>
        </p:nvSpPr>
        <p:spPr>
          <a:xfrm>
            <a:off x="1920241" y="5062070"/>
            <a:ext cx="2716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Was ist ein Wirkstoff?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A128744-FE9F-09A2-3E44-1CDB4F0ED8BF}"/>
              </a:ext>
            </a:extLst>
          </p:cNvPr>
          <p:cNvSpPr txBox="1"/>
          <p:nvPr/>
        </p:nvSpPr>
        <p:spPr>
          <a:xfrm>
            <a:off x="4636421" y="3611834"/>
            <a:ext cx="311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Schlüssel-Schloss-Prinzip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D1C2CD4-2E19-DE1C-FD5A-39BB670DE488}"/>
              </a:ext>
            </a:extLst>
          </p:cNvPr>
          <p:cNvSpPr txBox="1"/>
          <p:nvPr/>
        </p:nvSpPr>
        <p:spPr>
          <a:xfrm>
            <a:off x="7479075" y="5062070"/>
            <a:ext cx="3036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Pharmakokinetik - ADME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13629DF-021F-A537-0D76-F3F1D7DFBD49}"/>
              </a:ext>
            </a:extLst>
          </p:cNvPr>
          <p:cNvSpPr/>
          <p:nvPr/>
        </p:nvSpPr>
        <p:spPr>
          <a:xfrm rot="5400000" flipH="1">
            <a:off x="6282666" y="87131"/>
            <a:ext cx="45719" cy="87705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37EA7549-EA84-0587-D342-31CB4F98D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19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3D347F-167C-3A3A-839D-6ACD0AC4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5</a:t>
            </a:fld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7D90FAB-1D6E-0FA1-DE31-C2F18D0C1D35}"/>
              </a:ext>
            </a:extLst>
          </p:cNvPr>
          <p:cNvSpPr txBox="1"/>
          <p:nvPr/>
        </p:nvSpPr>
        <p:spPr>
          <a:xfrm>
            <a:off x="7498310" y="2621428"/>
            <a:ext cx="3284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/>
              <a:t>Lösen eine biologische Reaktion aus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6057011-611D-BE32-10B2-62B856EA2154}"/>
              </a:ext>
            </a:extLst>
          </p:cNvPr>
          <p:cNvSpPr txBox="1"/>
          <p:nvPr/>
        </p:nvSpPr>
        <p:spPr>
          <a:xfrm>
            <a:off x="7587613" y="3757004"/>
            <a:ext cx="319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/>
              <a:t>Form &amp; Größe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3D34362-D150-74A4-EBB6-62DD31167159}"/>
              </a:ext>
            </a:extLst>
          </p:cNvPr>
          <p:cNvSpPr txBox="1"/>
          <p:nvPr/>
        </p:nvSpPr>
        <p:spPr>
          <a:xfrm>
            <a:off x="7587614" y="4615581"/>
            <a:ext cx="192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/>
              <a:t>Löslichkeit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6E35248-85D7-C5B5-1140-CAFA35DFCD60}"/>
              </a:ext>
            </a:extLst>
          </p:cNvPr>
          <p:cNvSpPr txBox="1"/>
          <p:nvPr/>
        </p:nvSpPr>
        <p:spPr>
          <a:xfrm>
            <a:off x="7587614" y="5474158"/>
            <a:ext cx="319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/>
              <a:t>Stabilität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D1514C19-4B46-496E-190B-45CFA498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0" y="875276"/>
            <a:ext cx="8770571" cy="1345269"/>
          </a:xfrm>
        </p:spPr>
        <p:txBody>
          <a:bodyPr/>
          <a:lstStyle/>
          <a:p>
            <a:endParaRPr lang="de-AT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ADB6E5E-F9AD-CC07-D083-23A27388C4A3}"/>
              </a:ext>
            </a:extLst>
          </p:cNvPr>
          <p:cNvSpPr txBox="1"/>
          <p:nvPr/>
        </p:nvSpPr>
        <p:spPr>
          <a:xfrm>
            <a:off x="1920240" y="1155330"/>
            <a:ext cx="5327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Was ist ein Wirkstoff?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661672D-81AE-D873-2FC3-5E1294605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840" y="3164857"/>
            <a:ext cx="4319693" cy="2148346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CFEC0C39-7AD1-E523-E85F-A69FC1E9A95B}"/>
              </a:ext>
            </a:extLst>
          </p:cNvPr>
          <p:cNvSpPr txBox="1"/>
          <p:nvPr/>
        </p:nvSpPr>
        <p:spPr>
          <a:xfrm>
            <a:off x="5511800" y="450184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/>
              <a:t>CH</a:t>
            </a:r>
            <a:r>
              <a:rPr lang="de-AT" b="1" baseline="-25000" dirty="0"/>
              <a:t>3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9596E01-1EAE-DE23-C65B-70F483CD96E8}"/>
              </a:ext>
            </a:extLst>
          </p:cNvPr>
          <p:cNvSpPr txBox="1"/>
          <p:nvPr/>
        </p:nvSpPr>
        <p:spPr>
          <a:xfrm>
            <a:off x="6373822" y="3059668"/>
            <a:ext cx="965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/>
              <a:t>NH</a:t>
            </a:r>
            <a:r>
              <a:rPr lang="de-AT" b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0404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F715-0AB7-1BFD-CDD1-0B65E9F8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0D40D-0C7C-D43A-D909-0ADD494C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Chemische Grundlagen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D156E13-CD5A-4220-9D68-34EB1176669C}"/>
              </a:ext>
            </a:extLst>
          </p:cNvPr>
          <p:cNvSpPr/>
          <p:nvPr/>
        </p:nvSpPr>
        <p:spPr>
          <a:xfrm>
            <a:off x="3236808" y="4547620"/>
            <a:ext cx="47161" cy="3629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1B7C8F3-0C21-406A-3D9C-30320D1E5CAB}"/>
              </a:ext>
            </a:extLst>
          </p:cNvPr>
          <p:cNvSpPr/>
          <p:nvPr/>
        </p:nvSpPr>
        <p:spPr>
          <a:xfrm>
            <a:off x="6123168" y="3988490"/>
            <a:ext cx="47161" cy="4012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5476955-4915-7BE4-85F5-76539A11F96B}"/>
              </a:ext>
            </a:extLst>
          </p:cNvPr>
          <p:cNvSpPr/>
          <p:nvPr/>
        </p:nvSpPr>
        <p:spPr>
          <a:xfrm>
            <a:off x="8994515" y="4547620"/>
            <a:ext cx="47161" cy="3629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74CBC43-206B-81C4-D153-348F8B3E2A6D}"/>
              </a:ext>
            </a:extLst>
          </p:cNvPr>
          <p:cNvSpPr txBox="1"/>
          <p:nvPr/>
        </p:nvSpPr>
        <p:spPr>
          <a:xfrm>
            <a:off x="1920241" y="5062070"/>
            <a:ext cx="2716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Was ist ein Wirkstoff?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442BB8E-90B7-BD7A-6518-1C74C6715768}"/>
              </a:ext>
            </a:extLst>
          </p:cNvPr>
          <p:cNvSpPr txBox="1"/>
          <p:nvPr/>
        </p:nvSpPr>
        <p:spPr>
          <a:xfrm>
            <a:off x="4636421" y="3611834"/>
            <a:ext cx="311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Schlüssel-Schloss-Prinzip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8DECEA5-CD33-EC85-5D79-860E9C4386C2}"/>
              </a:ext>
            </a:extLst>
          </p:cNvPr>
          <p:cNvSpPr txBox="1"/>
          <p:nvPr/>
        </p:nvSpPr>
        <p:spPr>
          <a:xfrm>
            <a:off x="7479075" y="5062070"/>
            <a:ext cx="3036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Pharmakokinetik - ADME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E65B7BD-E881-F705-3BFE-49D8354715EE}"/>
              </a:ext>
            </a:extLst>
          </p:cNvPr>
          <p:cNvSpPr/>
          <p:nvPr/>
        </p:nvSpPr>
        <p:spPr>
          <a:xfrm rot="5400000" flipH="1">
            <a:off x="6282666" y="87131"/>
            <a:ext cx="45719" cy="87705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945403-40E0-8A5D-AAA1-4AAB09B1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986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CE6EC639-D9D5-0581-F2C7-344F4A797C45}"/>
              </a:ext>
            </a:extLst>
          </p:cNvPr>
          <p:cNvSpPr txBox="1"/>
          <p:nvPr/>
        </p:nvSpPr>
        <p:spPr>
          <a:xfrm>
            <a:off x="3027157" y="1122633"/>
            <a:ext cx="6137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Schlüssel-Schloss-Prinzip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1D4BF74-6EE5-6C53-48DD-65BEE836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21B959-1E83-4149-1507-25531F63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898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AD2BE-9918-97D6-4D0C-5A7DDF6B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A0F4F-66EE-081A-4588-24D75101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Chemische Grundlagen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1C590F3-3304-264B-6470-7B9D7E64DE02}"/>
              </a:ext>
            </a:extLst>
          </p:cNvPr>
          <p:cNvSpPr/>
          <p:nvPr/>
        </p:nvSpPr>
        <p:spPr>
          <a:xfrm>
            <a:off x="3236808" y="4547620"/>
            <a:ext cx="47161" cy="3629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029C9F7-D1DD-586C-6950-9580A833887D}"/>
              </a:ext>
            </a:extLst>
          </p:cNvPr>
          <p:cNvSpPr/>
          <p:nvPr/>
        </p:nvSpPr>
        <p:spPr>
          <a:xfrm>
            <a:off x="6123168" y="3988490"/>
            <a:ext cx="47161" cy="4012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717926-E078-AFDE-21E4-42A68FB3735B}"/>
              </a:ext>
            </a:extLst>
          </p:cNvPr>
          <p:cNvSpPr/>
          <p:nvPr/>
        </p:nvSpPr>
        <p:spPr>
          <a:xfrm>
            <a:off x="8994515" y="4547620"/>
            <a:ext cx="47161" cy="3629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0A719F0-14E4-D856-64E2-95CA0AD36D9F}"/>
              </a:ext>
            </a:extLst>
          </p:cNvPr>
          <p:cNvSpPr txBox="1"/>
          <p:nvPr/>
        </p:nvSpPr>
        <p:spPr>
          <a:xfrm>
            <a:off x="1920241" y="5062070"/>
            <a:ext cx="2716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Was ist ein Wirkstoff?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0CB08B6-C261-F4B1-712C-664C9DC2AD31}"/>
              </a:ext>
            </a:extLst>
          </p:cNvPr>
          <p:cNvSpPr txBox="1"/>
          <p:nvPr/>
        </p:nvSpPr>
        <p:spPr>
          <a:xfrm>
            <a:off x="4636421" y="3611834"/>
            <a:ext cx="311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Schlüssel-Schloss-Prinzip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E02F2F7-70D1-A3A9-8B61-AD1C346BF6BB}"/>
              </a:ext>
            </a:extLst>
          </p:cNvPr>
          <p:cNvSpPr txBox="1"/>
          <p:nvPr/>
        </p:nvSpPr>
        <p:spPr>
          <a:xfrm>
            <a:off x="7479075" y="5062070"/>
            <a:ext cx="3036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Pharmakokinetik - ADME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A04EB4E-F10F-7011-9A9B-7951F2E8997F}"/>
              </a:ext>
            </a:extLst>
          </p:cNvPr>
          <p:cNvSpPr/>
          <p:nvPr/>
        </p:nvSpPr>
        <p:spPr>
          <a:xfrm rot="5400000" flipH="1">
            <a:off x="6282666" y="87131"/>
            <a:ext cx="45719" cy="87705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5D72FB-8A32-AA11-C0F2-827E0B47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747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B9BF20E-B5BC-7334-5B73-0CF58296A216}"/>
              </a:ext>
            </a:extLst>
          </p:cNvPr>
          <p:cNvSpPr txBox="1"/>
          <p:nvPr/>
        </p:nvSpPr>
        <p:spPr>
          <a:xfrm>
            <a:off x="4871341" y="1125070"/>
            <a:ext cx="5915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Pharmakokinetik</a:t>
            </a:r>
            <a:r>
              <a:rPr lang="de-AT" dirty="0"/>
              <a:t> </a:t>
            </a:r>
            <a:r>
              <a:rPr lang="de-AT" sz="3200" b="1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- ADME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717050-E5FB-1817-DEDD-D3E5854E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706" y="-1437380"/>
            <a:ext cx="8770571" cy="1345269"/>
          </a:xfrm>
        </p:spPr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21147B-3C60-BF75-7E8C-C109BDF5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9</a:t>
            </a:fld>
            <a:endParaRPr lang="en-US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ECEDC8B-03DF-645C-9B49-8BE8A5C65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57137" y="2147035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67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Breitbild</PresentationFormat>
  <Paragraphs>50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Meiryo</vt:lpstr>
      <vt:lpstr>Aptos</vt:lpstr>
      <vt:lpstr>Arial</vt:lpstr>
      <vt:lpstr>Corbel</vt:lpstr>
      <vt:lpstr>SketchLinesVTI</vt:lpstr>
      <vt:lpstr>Pharmazie</vt:lpstr>
      <vt:lpstr>Inhaltsverzeichnis</vt:lpstr>
      <vt:lpstr>PowerPoint-Präsentation</vt:lpstr>
      <vt:lpstr>Chemische Grundlagen</vt:lpstr>
      <vt:lpstr>PowerPoint-Präsentation</vt:lpstr>
      <vt:lpstr>Chemische Grundlagen</vt:lpstr>
      <vt:lpstr>PowerPoint-Präsentation</vt:lpstr>
      <vt:lpstr>Chemische Grundlagen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St.</dc:creator>
  <cp:lastModifiedBy>Martin St.</cp:lastModifiedBy>
  <cp:revision>1</cp:revision>
  <dcterms:created xsi:type="dcterms:W3CDTF">2026-05-10T16:42:33Z</dcterms:created>
  <dcterms:modified xsi:type="dcterms:W3CDTF">2026-05-10T18:46:24Z</dcterms:modified>
</cp:coreProperties>
</file>